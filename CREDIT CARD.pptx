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26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84" y="132"/>
      </p:cViewPr>
      <p:guideLst>
        <p:guide orient="horz" pos="2115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061C342-391F-48C5-AA8F-4231D8E9BF3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60D57EB0-01B3-47F6-A5DC-7F213BDDA3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400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1C342-391F-48C5-AA8F-4231D8E9BF3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7EB0-01B3-47F6-A5DC-7F213BDDA3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783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1C342-391F-48C5-AA8F-4231D8E9BF3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7EB0-01B3-47F6-A5DC-7F213BDDA3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639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1C342-391F-48C5-AA8F-4231D8E9BF3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7EB0-01B3-47F6-A5DC-7F213BDDA3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629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1C342-391F-48C5-AA8F-4231D8E9BF3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7EB0-01B3-47F6-A5DC-7F213BDDA3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408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1C342-391F-48C5-AA8F-4231D8E9BF3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7EB0-01B3-47F6-A5DC-7F213BDDA3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135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1C342-391F-48C5-AA8F-4231D8E9BF3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7EB0-01B3-47F6-A5DC-7F213BDDA3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640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1C342-391F-48C5-AA8F-4231D8E9BF3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7EB0-01B3-47F6-A5DC-7F213BDDA3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191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1C342-391F-48C5-AA8F-4231D8E9BF3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7EB0-01B3-47F6-A5DC-7F213BDDA3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840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1C342-391F-48C5-AA8F-4231D8E9BF3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7EB0-01B3-47F6-A5DC-7F213BDDA3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204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1C342-391F-48C5-AA8F-4231D8E9BF3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7EB0-01B3-47F6-A5DC-7F213BDDA3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8797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1C342-391F-48C5-AA8F-4231D8E9BF3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7EB0-01B3-47F6-A5DC-7F213BDDA3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4434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1C342-391F-48C5-AA8F-4231D8E9BF3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7EB0-01B3-47F6-A5DC-7F213BDDA3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4876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1C342-391F-48C5-AA8F-4231D8E9BF3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7EB0-01B3-47F6-A5DC-7F213BDDA3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2640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1C342-391F-48C5-AA8F-4231D8E9BF3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7EB0-01B3-47F6-A5DC-7F213BDDA3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6900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061C342-391F-48C5-AA8F-4231D8E9BF3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7EB0-01B3-47F6-A5DC-7F213BDDA3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33927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061C342-391F-48C5-AA8F-4231D8E9BF3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57EB0-01B3-47F6-A5DC-7F213BDDA3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942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061C342-391F-48C5-AA8F-4231D8E9BF3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60D57EB0-01B3-47F6-A5DC-7F213BDDA3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747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mailto:neha.pal.3355@gmail.com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08593-AEE1-497D-BC01-4E32D9967D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CREDIT CARD</a:t>
            </a:r>
            <a:br>
              <a:rPr lang="en-US" b="1" dirty="0"/>
            </a:br>
            <a:r>
              <a:rPr lang="en-US" b="1" dirty="0"/>
              <a:t>WEEKLY STATUS REPORT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848FF1-C528-4D52-9512-61207C9166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Power BI Project Presentation by Neha Pal</a:t>
            </a:r>
          </a:p>
        </p:txBody>
      </p:sp>
    </p:spTree>
    <p:extLst>
      <p:ext uri="{BB962C8B-B14F-4D97-AF65-F5344CB8AC3E}">
        <p14:creationId xmlns:p14="http://schemas.microsoft.com/office/powerpoint/2010/main" val="766960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08593-AEE1-497D-BC01-4E32D9967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Project Objective</a:t>
            </a:r>
            <a:endParaRPr lang="en-IN" sz="4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851D5D-FDB1-4D72-A1AD-32CB55E612B1}"/>
              </a:ext>
            </a:extLst>
          </p:cNvPr>
          <p:cNvSpPr txBox="1"/>
          <p:nvPr/>
        </p:nvSpPr>
        <p:spPr>
          <a:xfrm>
            <a:off x="848139" y="2518117"/>
            <a:ext cx="7100107" cy="3683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To develop a comprehensive credit card weekly dashboard that provides real-time insights into key performance metrics and trends, enabling stakeholders to monitor and analyze credit card operations effectively.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aphic 6" descr="Presentation with bar chart with solid fill">
            <a:extLst>
              <a:ext uri="{FF2B5EF4-FFF2-40B4-BE49-F238E27FC236}">
                <a16:creationId xmlns:a16="http://schemas.microsoft.com/office/drawing/2014/main" id="{A2813AF9-3274-428B-BAB7-36B1D96AD9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97911" y="3037092"/>
            <a:ext cx="2645950" cy="264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384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08593-AEE1-497D-BC01-4E32D9967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Data collection &amp; Understanding</a:t>
            </a:r>
            <a:endParaRPr lang="en-IN" sz="4000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E310FF-EB02-4950-BDC0-8C112849D8D3}"/>
              </a:ext>
            </a:extLst>
          </p:cNvPr>
          <p:cNvSpPr txBox="1">
            <a:spLocks/>
          </p:cNvSpPr>
          <p:nvPr/>
        </p:nvSpPr>
        <p:spPr>
          <a:xfrm>
            <a:off x="520505" y="2303128"/>
            <a:ext cx="11183815" cy="631159"/>
          </a:xfrm>
          <a:prstGeom prst="rect">
            <a:avLst/>
          </a:prstGeom>
        </p:spPr>
        <p:txBody>
          <a:bodyPr lIns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Data Source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IN" sz="1400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secondary data source for data collection like .CSV files</a:t>
            </a:r>
            <a:r>
              <a:rPr lang="en-IN" sz="2000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50EFEEE-6586-4C64-B7D1-3D6BFEB88A64}"/>
              </a:ext>
            </a:extLst>
          </p:cNvPr>
          <p:cNvSpPr txBox="1">
            <a:spLocks/>
          </p:cNvSpPr>
          <p:nvPr/>
        </p:nvSpPr>
        <p:spPr>
          <a:xfrm>
            <a:off x="520505" y="2959687"/>
            <a:ext cx="11183815" cy="1609578"/>
          </a:xfrm>
          <a:prstGeom prst="rect">
            <a:avLst/>
          </a:prstGeom>
        </p:spPr>
        <p:txBody>
          <a:bodyPr lIns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Dataset Overview: 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IN" sz="1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Credit Card </a:t>
            </a:r>
          </a:p>
          <a:p>
            <a:pPr marL="288000" indent="-1800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Dataset Rows: 10,108  </a:t>
            </a:r>
          </a:p>
          <a:p>
            <a:pPr marL="288000" indent="-1800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Columns: 18</a:t>
            </a:r>
          </a:p>
          <a:p>
            <a:pPr marL="288000" indent="-1800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Columns:  </a:t>
            </a:r>
            <a:r>
              <a:rPr lang="en-IN" sz="1400" dirty="0" err="1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Client_Num</a:t>
            </a: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, </a:t>
            </a:r>
            <a:r>
              <a:rPr lang="en-IN" sz="1400" dirty="0" err="1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Card_Category</a:t>
            </a: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, </a:t>
            </a:r>
            <a:r>
              <a:rPr lang="en-IN" sz="1400" dirty="0" err="1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Annual_Fees</a:t>
            </a: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, Activation_30_Days,Customer_Acq_Cost, </a:t>
            </a:r>
            <a:r>
              <a:rPr lang="en-IN" sz="1400" dirty="0" err="1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Week_Start_Date</a:t>
            </a: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, </a:t>
            </a:r>
            <a:r>
              <a:rPr lang="en-IN" sz="1400" dirty="0" err="1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Week_Num</a:t>
            </a: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, </a:t>
            </a:r>
            <a:r>
              <a:rPr lang="en-IN" sz="1400" dirty="0" err="1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Qtr,current_year</a:t>
            </a: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, </a:t>
            </a:r>
            <a:r>
              <a:rPr lang="en-IN" sz="1400" dirty="0" err="1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Credit_Limit</a:t>
            </a: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, </a:t>
            </a:r>
            <a:r>
              <a:rPr lang="en-IN" sz="1400" dirty="0" err="1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Total_Revolving_Bal</a:t>
            </a: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, </a:t>
            </a:r>
            <a:r>
              <a:rPr lang="en-IN" sz="1400" dirty="0" err="1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Total_Trans_Amt,Total_Trans_Vol</a:t>
            </a: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, </a:t>
            </a:r>
            <a:r>
              <a:rPr lang="en-IN" sz="1400" dirty="0" err="1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Avg_Utilization_Ratio</a:t>
            </a: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, Use Chip, Exp </a:t>
            </a:r>
            <a:r>
              <a:rPr lang="en-IN" sz="1400" dirty="0" err="1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Type,Interest_Earned</a:t>
            </a: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, </a:t>
            </a:r>
            <a:r>
              <a:rPr lang="en-IN" sz="1400" dirty="0" err="1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Delinquent_AccClean</a:t>
            </a: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 dataset with no missing values</a:t>
            </a:r>
            <a:r>
              <a:rPr lang="en-IN" sz="1400" b="1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58F77E-8A31-41CD-BF23-0DF01EF5A260}"/>
              </a:ext>
            </a:extLst>
          </p:cNvPr>
          <p:cNvSpPr txBox="1">
            <a:spLocks/>
          </p:cNvSpPr>
          <p:nvPr/>
        </p:nvSpPr>
        <p:spPr>
          <a:xfrm>
            <a:off x="520505" y="4594665"/>
            <a:ext cx="11183815" cy="1053317"/>
          </a:xfrm>
          <a:prstGeom prst="rect">
            <a:avLst/>
          </a:prstGeom>
        </p:spPr>
        <p:txBody>
          <a:bodyPr lIns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IN" sz="1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Customer Dataset</a:t>
            </a:r>
          </a:p>
          <a:p>
            <a:pPr marL="288000" indent="-1800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Rows: 10,108  </a:t>
            </a:r>
          </a:p>
          <a:p>
            <a:pPr marL="288000" indent="-1800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Columns: 15</a:t>
            </a:r>
          </a:p>
          <a:p>
            <a:pPr marL="288000" indent="-1800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Columns: </a:t>
            </a:r>
            <a:r>
              <a:rPr lang="en-IN" sz="1400" dirty="0" err="1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Client_Num</a:t>
            </a: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, </a:t>
            </a:r>
            <a:r>
              <a:rPr lang="en-IN" sz="1400" dirty="0" err="1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Customer_Age</a:t>
            </a: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, Gender, </a:t>
            </a:r>
            <a:r>
              <a:rPr lang="en-IN" sz="1400" dirty="0" err="1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Dependent_Count</a:t>
            </a: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, </a:t>
            </a:r>
            <a:r>
              <a:rPr lang="en-IN" sz="1400" dirty="0" err="1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Education_Level,Marital_Status</a:t>
            </a: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, </a:t>
            </a:r>
            <a:r>
              <a:rPr lang="en-IN" sz="1400" dirty="0" err="1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state_cd</a:t>
            </a: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, </a:t>
            </a:r>
            <a:r>
              <a:rPr lang="en-IN" sz="1400" dirty="0" err="1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Zipcode</a:t>
            </a: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, </a:t>
            </a:r>
            <a:r>
              <a:rPr lang="en-IN" sz="1400" dirty="0" err="1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Car_Owner</a:t>
            </a: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, </a:t>
            </a:r>
            <a:r>
              <a:rPr lang="en-IN" sz="1400" dirty="0" err="1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House_Owner,Personal_loan</a:t>
            </a: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, contact, </a:t>
            </a:r>
            <a:r>
              <a:rPr lang="en-IN" sz="1400" dirty="0" err="1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Customer_Job</a:t>
            </a: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, Income, </a:t>
            </a:r>
            <a:r>
              <a:rPr lang="en-IN" sz="1400" dirty="0" err="1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Cust_Satisfaction_ScoreClean</a:t>
            </a:r>
            <a:r>
              <a:rPr lang="en-IN" sz="1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 dataset with no missing values.</a:t>
            </a:r>
            <a:endParaRPr lang="en-IN" sz="1400" b="1" dirty="0">
              <a:solidFill>
                <a:schemeClr val="tx1"/>
              </a:solidFill>
              <a:latin typeface="Arial" panose="020B0604020202020204" pitchFamily="34" charset="0"/>
              <a:ea typeface="Segoe UI Black" panose="020B0A02040204020203" pitchFamily="34" charset="0"/>
              <a:cs typeface="Arial" panose="020B0604020202020204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64AF65F-BE3E-463F-BC35-6F85FBDEFC0A}"/>
              </a:ext>
            </a:extLst>
          </p:cNvPr>
          <p:cNvSpPr txBox="1">
            <a:spLocks/>
          </p:cNvSpPr>
          <p:nvPr/>
        </p:nvSpPr>
        <p:spPr>
          <a:xfrm>
            <a:off x="520505" y="5673383"/>
            <a:ext cx="11183815" cy="825890"/>
          </a:xfrm>
          <a:prstGeom prst="rect">
            <a:avLst/>
          </a:prstGeom>
        </p:spPr>
        <p:txBody>
          <a:bodyPr lIns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Usage: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Both datasets were joined on 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Client_Num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 to analyze customer behavior, transaction trends, card performance, and regional insights in </a:t>
            </a:r>
            <a:b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</a:b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Power BI.</a:t>
            </a:r>
            <a:endParaRPr lang="en-IN" sz="1400" b="1" dirty="0">
              <a:solidFill>
                <a:schemeClr val="tx1"/>
              </a:solidFill>
              <a:latin typeface="Arial" panose="020B0604020202020204" pitchFamily="34" charset="0"/>
              <a:ea typeface="Segoe UI Black" panose="020B0A0204020402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571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08593-AEE1-497D-BC01-4E32D9967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677169" cy="706964"/>
          </a:xfrm>
        </p:spPr>
        <p:txBody>
          <a:bodyPr/>
          <a:lstStyle/>
          <a:p>
            <a:r>
              <a:rPr lang="en-US" sz="4000" b="1" dirty="0"/>
              <a:t>Add new columns using DAX Queries </a:t>
            </a:r>
            <a:endParaRPr lang="en-IN" sz="4000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E310FF-EB02-4950-BDC0-8C112849D8D3}"/>
              </a:ext>
            </a:extLst>
          </p:cNvPr>
          <p:cNvSpPr txBox="1">
            <a:spLocks/>
          </p:cNvSpPr>
          <p:nvPr/>
        </p:nvSpPr>
        <p:spPr>
          <a:xfrm>
            <a:off x="520506" y="2303129"/>
            <a:ext cx="6189784" cy="170616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AgeGroup</a:t>
            </a: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SWITCH(TRUE(),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customer[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Customer_Age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]&lt;30,"20-30",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customer[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Customer_Age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]&gt;=30 &amp;&amp; customer[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Customer_Age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]&lt;40,"30-40",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customer[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Customer_Age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]&gt;=40 &amp;&amp; customer[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Customer_Age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]&lt;50,"40-50",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customer[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Customer_Age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]&gt;=50 &amp;&amp; customer[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Customer_Age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]&lt;60,"50-60",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customer[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Customer_Age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]&gt;=60,"60+",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"Unknown")</a:t>
            </a:r>
            <a:endParaRPr lang="en-IN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9177769-68FB-40EA-982F-82939EF3558F}"/>
              </a:ext>
            </a:extLst>
          </p:cNvPr>
          <p:cNvSpPr txBox="1">
            <a:spLocks/>
          </p:cNvSpPr>
          <p:nvPr/>
        </p:nvSpPr>
        <p:spPr>
          <a:xfrm>
            <a:off x="520506" y="4079631"/>
            <a:ext cx="6189784" cy="122389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IncomeGroup</a:t>
            </a: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SWITCH(TRUE(),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customer[Income]&lt;35000,"Low",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customer[Income]&gt;=35000 &amp;&amp; customer[Income]&lt;70000,"Mid",        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customer[Income]&gt;=70000,"High",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"Unknown")</a:t>
            </a:r>
            <a:endParaRPr lang="en-IN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30D0152-14A9-4311-8239-8E5D6D4E91F8}"/>
              </a:ext>
            </a:extLst>
          </p:cNvPr>
          <p:cNvSpPr txBox="1">
            <a:spLocks/>
          </p:cNvSpPr>
          <p:nvPr/>
        </p:nvSpPr>
        <p:spPr>
          <a:xfrm>
            <a:off x="6960082" y="2303128"/>
            <a:ext cx="4949161" cy="156548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 =</a:t>
            </a:r>
            <a:r>
              <a:rPr lang="en-US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credit_card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Annual_Fees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]+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credit_card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Interest_Earned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]+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credit_card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Total_Trans_Amt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Weeknum</a:t>
            </a: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  <a:r>
              <a:rPr lang="en-US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WEEKNUM(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credit_card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Week_Start_Date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].[Date])</a:t>
            </a:r>
            <a:endParaRPr lang="en-IN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30D1120-F86D-4931-984C-9498DA7331E4}"/>
              </a:ext>
            </a:extLst>
          </p:cNvPr>
          <p:cNvSpPr txBox="1">
            <a:spLocks/>
          </p:cNvSpPr>
          <p:nvPr/>
        </p:nvSpPr>
        <p:spPr>
          <a:xfrm>
            <a:off x="6960082" y="4009292"/>
            <a:ext cx="4949162" cy="122389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Current_week_revenue</a:t>
            </a: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CALCULATE(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SUM('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credit_card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'[Revenue]),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FILTER(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ALL('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credit_card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'),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'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credit_card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'[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Weeknum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 = MAX('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credit_card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'[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Weeknum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])))</a:t>
            </a:r>
            <a:endParaRPr lang="en-IN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B572F14-4B94-4072-8263-8F49B1F7A7E9}"/>
              </a:ext>
            </a:extLst>
          </p:cNvPr>
          <p:cNvSpPr txBox="1">
            <a:spLocks/>
          </p:cNvSpPr>
          <p:nvPr/>
        </p:nvSpPr>
        <p:spPr>
          <a:xfrm>
            <a:off x="520506" y="5373859"/>
            <a:ext cx="6189784" cy="122389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Previous_week_revenue</a:t>
            </a: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CALCULATE(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SUM('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credit_card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'[Revenue]),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FILTER(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ALL('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credit_card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'),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'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credit_card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'[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Weeknum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 = MAX('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credit_card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'[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Weeknum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])-1))</a:t>
            </a:r>
            <a:endParaRPr lang="en-IN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8E8B0B-0735-4DE8-B4E5-0CBDE30B9B1D}"/>
              </a:ext>
            </a:extLst>
          </p:cNvPr>
          <p:cNvSpPr txBox="1">
            <a:spLocks/>
          </p:cNvSpPr>
          <p:nvPr/>
        </p:nvSpPr>
        <p:spPr>
          <a:xfrm>
            <a:off x="6960081" y="5373859"/>
            <a:ext cx="4949162" cy="1223890"/>
          </a:xfrm>
          <a:prstGeom prst="rect">
            <a:avLst/>
          </a:prstGeom>
        </p:spPr>
        <p:txBody>
          <a:bodyPr lIns="0" tIns="0" rIns="0" bIns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sz="19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Previous_week_revenue</a:t>
            </a:r>
            <a:r>
              <a:rPr lang="en-US" sz="1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CALCULATE(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SUM('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credit_card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'[Revenue]),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FILTER(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ALL('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credit_card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'),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'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credit_card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'[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Weeknum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 = MAX('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credit_card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'[</a:t>
            </a:r>
            <a:r>
              <a:rPr lang="en-US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Weeknum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])-1))</a:t>
            </a:r>
            <a:endParaRPr lang="en-IN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991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08593-AEE1-497D-BC01-4E32D9967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677169" cy="706964"/>
          </a:xfrm>
        </p:spPr>
        <p:txBody>
          <a:bodyPr/>
          <a:lstStyle/>
          <a:p>
            <a:r>
              <a:rPr lang="en-US" sz="4000" b="1" dirty="0"/>
              <a:t>Project Insights- Week 53 (31st Dec)</a:t>
            </a:r>
            <a:endParaRPr lang="en-IN" sz="4000" b="1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11575A7-7B09-4E87-BF27-EDB5065E17FD}"/>
              </a:ext>
            </a:extLst>
          </p:cNvPr>
          <p:cNvSpPr txBox="1">
            <a:spLocks/>
          </p:cNvSpPr>
          <p:nvPr/>
        </p:nvSpPr>
        <p:spPr>
          <a:xfrm>
            <a:off x="520505" y="2303127"/>
            <a:ext cx="11183815" cy="4238349"/>
          </a:xfrm>
          <a:prstGeom prst="rect">
            <a:avLst/>
          </a:prstGeom>
        </p:spPr>
        <p:txBody>
          <a:bodyPr lIns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Font typeface="Wingdings 3" charset="2"/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WoW change:</a:t>
            </a:r>
          </a:p>
          <a:p>
            <a:pPr marL="288000" indent="-1800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Revenue increased by 28.8%,</a:t>
            </a:r>
          </a:p>
          <a:p>
            <a:pPr marL="288000" indent="-1800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Total Transaction Amt increased by 35%</a:t>
            </a:r>
          </a:p>
          <a:p>
            <a:pPr marL="288000" indent="-1800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Customer count increased by 12%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Font typeface="Wingdings 3" charset="2"/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Overview YTD:</a:t>
            </a:r>
          </a:p>
          <a:p>
            <a:pPr marL="288000" indent="-1800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Overall revenue is 57M</a:t>
            </a:r>
          </a:p>
          <a:p>
            <a:pPr marL="288000" indent="-1800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Total interest is 8M</a:t>
            </a:r>
          </a:p>
          <a:p>
            <a:pPr marL="288000" indent="-1800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Total transaction amount is 46M</a:t>
            </a:r>
          </a:p>
          <a:p>
            <a:pPr marL="288000" indent="-1800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Male customers are contributing more in revenue 31M, female 26M</a:t>
            </a:r>
          </a:p>
          <a:p>
            <a:pPr marL="288000" indent="-1800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Blue &amp; Silver credit card are contributing to 93% of overall transactions</a:t>
            </a:r>
          </a:p>
          <a:p>
            <a:pPr marL="288000" indent="-1800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TX, NY &amp; CA is contributing to 68%</a:t>
            </a:r>
          </a:p>
          <a:p>
            <a:pPr marL="288000" indent="-1800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Overall Activation rate is 57.5%</a:t>
            </a:r>
          </a:p>
          <a:p>
            <a:pPr marL="288000" indent="-1800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Overall Delinquent rate is 6.06%</a:t>
            </a:r>
            <a:endParaRPr lang="en-I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226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08593-AEE1-497D-BC01-4E32D9967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677169" cy="706964"/>
          </a:xfrm>
        </p:spPr>
        <p:txBody>
          <a:bodyPr/>
          <a:lstStyle/>
          <a:p>
            <a:r>
              <a:rPr lang="en-US" sz="4000" b="1" dirty="0"/>
              <a:t>Product Analysis</a:t>
            </a:r>
            <a:endParaRPr lang="en-IN" sz="4000" b="1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11575A7-7B09-4E87-BF27-EDB5065E17FD}"/>
              </a:ext>
            </a:extLst>
          </p:cNvPr>
          <p:cNvSpPr txBox="1">
            <a:spLocks/>
          </p:cNvSpPr>
          <p:nvPr/>
        </p:nvSpPr>
        <p:spPr>
          <a:xfrm>
            <a:off x="520505" y="2303127"/>
            <a:ext cx="11183815" cy="4238349"/>
          </a:xfrm>
          <a:prstGeom prst="rect">
            <a:avLst/>
          </a:prstGeom>
        </p:spPr>
        <p:txBody>
          <a:bodyPr lIns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Font typeface="Wingdings 3" charset="2"/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There is Four Type of Card :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Blue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Silver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Gold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Platinum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Font typeface="Wingdings 3" charset="2"/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Blue Card: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Highest performing, contributing $47M in revenue.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Font typeface="Wingdings 3" charset="2"/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Silver Card: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Second highest, contributing $6M in revenue.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Font typeface="Wingdings 3" charset="2"/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Gold &amp; Platinum Cards: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Contribute a smaller share of total revenue.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Font typeface="Wingdings 3" charset="2"/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Insight: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Blue and Silver cards together generate over 90% of total revenue, showing strong customer preference for standard card types.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Font typeface="Wingdings 3" charset="2"/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Recommendation: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Introduce premium benefits or cashback offers for Gold and Platinum cards to increase adoption and revenue diversification.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ea typeface="Segoe UI Black" panose="020B0A02040204020203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E08D3E-BA35-4777-9773-C35CE1523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3372" y="2303127"/>
            <a:ext cx="2629267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663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08593-AEE1-497D-BC01-4E32D9967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677169" cy="706964"/>
          </a:xfrm>
        </p:spPr>
        <p:txBody>
          <a:bodyPr/>
          <a:lstStyle/>
          <a:p>
            <a:r>
              <a:rPr lang="en-US" sz="4000" b="1" dirty="0"/>
              <a:t>Regional Insights</a:t>
            </a:r>
            <a:endParaRPr lang="en-IN" sz="4000" b="1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11575A7-7B09-4E87-BF27-EDB5065E17FD}"/>
              </a:ext>
            </a:extLst>
          </p:cNvPr>
          <p:cNvSpPr txBox="1">
            <a:spLocks/>
          </p:cNvSpPr>
          <p:nvPr/>
        </p:nvSpPr>
        <p:spPr>
          <a:xfrm>
            <a:off x="520505" y="2303128"/>
            <a:ext cx="11183815" cy="4041402"/>
          </a:xfrm>
          <a:prstGeom prst="rect">
            <a:avLst/>
          </a:prstGeom>
        </p:spPr>
        <p:txBody>
          <a:bodyPr lIns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Font typeface="Wingdings 3" charset="2"/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The Top 5 Revenue-Contributing States are: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Texas (TX): $13M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New York (NY): $13M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California (CA): $13M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Florida (FL): $10M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New Jersey (NJ): $5M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Font typeface="Wingdings 3" charset="2"/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Observation: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TX, NY, and CA are the top-performing states, together contributing the majority of total revenue.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Font typeface="Wingdings 3" charset="2"/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Recommendation: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Focus marketing and promotional campaigns in Florida and New Jersey to improve their performance and balance regional growth.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5976BC-620F-4418-8A9C-A36E24116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2211" y="2207601"/>
            <a:ext cx="2102091" cy="236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705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08593-AEE1-497D-BC01-4E32D9967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677169" cy="706964"/>
          </a:xfrm>
        </p:spPr>
        <p:txBody>
          <a:bodyPr/>
          <a:lstStyle/>
          <a:p>
            <a:r>
              <a:rPr lang="en-US" sz="4000" b="1" dirty="0"/>
              <a:t>Demographic Insights </a:t>
            </a:r>
            <a:r>
              <a:rPr lang="en-US" sz="2400" b="1" dirty="0"/>
              <a:t>(Part 1 – Age &amp; Education)</a:t>
            </a:r>
            <a:endParaRPr lang="en-IN" sz="4000" b="1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11575A7-7B09-4E87-BF27-EDB5065E17FD}"/>
              </a:ext>
            </a:extLst>
          </p:cNvPr>
          <p:cNvSpPr txBox="1">
            <a:spLocks/>
          </p:cNvSpPr>
          <p:nvPr/>
        </p:nvSpPr>
        <p:spPr>
          <a:xfrm>
            <a:off x="520505" y="2303128"/>
            <a:ext cx="11183815" cy="4041402"/>
          </a:xfrm>
          <a:prstGeom prst="rect">
            <a:avLst/>
          </a:prstGeom>
        </p:spPr>
        <p:txBody>
          <a:bodyPr lIns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Font typeface="Wingdings 3" charset="2"/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Age Group Performance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40–50 age group generates the highest revenue ($25M).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Followed by 50–60 ($19M) and 30–40 ($10M).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Indicates strong engagement from middle-aged customers with stable income levels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Segoe UI Black" panose="020B0A02040204020203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Font typeface="Wingdings 3" charset="2"/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Education Level Performance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Graduates lead with $23M in revenue.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Followed by High School ($11M) and Unknown ($9M) categories.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Suggests that educated customers are more active in credit card usage and spending.</a:t>
            </a:r>
          </a:p>
          <a:p>
            <a:pPr marL="0" indent="0">
              <a:spcBef>
                <a:spcPts val="0"/>
              </a:spcBef>
              <a:buFont typeface="Wingdings 3" charset="2"/>
              <a:buNone/>
            </a:pP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Segoe UI Black" panose="020B0A02040204020203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Font typeface="Wingdings 3" charset="2"/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Insight: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Focus marketing on educated professionals aged 30–60, as they represent the 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Font typeface="Wingdings 3" charset="2"/>
              <a:buNone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most profitable group.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ea typeface="Segoe UI Black" panose="020B0A02040204020203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1DF5E8-E538-4C49-AC05-42AB47666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2696" y="2183601"/>
            <a:ext cx="2137309" cy="19268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EC2B01-F54E-4406-A499-0985F66E0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2696" y="4229998"/>
            <a:ext cx="2137309" cy="217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023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08593-AEE1-497D-BC01-4E32D9967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677169" cy="706964"/>
          </a:xfrm>
        </p:spPr>
        <p:txBody>
          <a:bodyPr/>
          <a:lstStyle/>
          <a:p>
            <a:r>
              <a:rPr lang="en-US" sz="4000" b="1" dirty="0"/>
              <a:t>Demographic Insights </a:t>
            </a:r>
            <a:r>
              <a:rPr lang="en-US" sz="2400" b="1" dirty="0"/>
              <a:t>(Part 2 – Occupation &amp; Marital Status)</a:t>
            </a:r>
            <a:endParaRPr lang="en-IN" sz="2400" b="1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11575A7-7B09-4E87-BF27-EDB5065E17FD}"/>
              </a:ext>
            </a:extLst>
          </p:cNvPr>
          <p:cNvSpPr txBox="1">
            <a:spLocks/>
          </p:cNvSpPr>
          <p:nvPr/>
        </p:nvSpPr>
        <p:spPr>
          <a:xfrm>
            <a:off x="520505" y="2303128"/>
            <a:ext cx="11183815" cy="4041402"/>
          </a:xfrm>
          <a:prstGeom prst="rect">
            <a:avLst/>
          </a:prstGeom>
        </p:spPr>
        <p:txBody>
          <a:bodyPr lIns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Font typeface="Wingdings 3" charset="2"/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Occupation-wise Revenue</a:t>
            </a:r>
          </a:p>
          <a:p>
            <a:pPr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Businessmen: $18M</a:t>
            </a:r>
          </a:p>
          <a:p>
            <a:pPr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White-collar professionals: $10M</a:t>
            </a:r>
          </a:p>
          <a:p>
            <a:pPr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Self-employed: $9M</a:t>
            </a:r>
          </a:p>
          <a:p>
            <a:pPr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Government &amp; Blue-collar workers: $7–8M</a:t>
            </a:r>
          </a:p>
          <a:p>
            <a:pPr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Retirees: $5M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Indicates strong engagement from business and corporate professionals.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Font typeface="Wingdings 3" charset="2"/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Marital Status Revenue</a:t>
            </a:r>
          </a:p>
          <a:p>
            <a:pPr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Married customers: $29M</a:t>
            </a:r>
          </a:p>
          <a:p>
            <a:pPr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Single customers: $24M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Married customers show higher spending, likely due to shared household expenses.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Font typeface="Wingdings 3" charset="2"/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Insight: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Offer family-based rewards, business travel perks, and professional credit </a:t>
            </a:r>
            <a:b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benefits to enhance engagement among these key segments.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ea typeface="Segoe UI Black" panose="020B0A02040204020203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B8ADF8-A9A0-49D3-AA8F-2EE7A58A5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9730" y="4283870"/>
            <a:ext cx="1854524" cy="20481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3D31E7-9894-47A3-BDDE-6C6584216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8842" y="2218897"/>
            <a:ext cx="1956298" cy="1851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523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08593-AEE1-497D-BC01-4E32D9967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677169" cy="706964"/>
          </a:xfrm>
        </p:spPr>
        <p:txBody>
          <a:bodyPr/>
          <a:lstStyle/>
          <a:p>
            <a:r>
              <a:rPr lang="en-US" sz="4000" b="1" dirty="0"/>
              <a:t>Operational Metrics</a:t>
            </a:r>
            <a:endParaRPr lang="en-IN" sz="2400" b="1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11575A7-7B09-4E87-BF27-EDB5065E17FD}"/>
              </a:ext>
            </a:extLst>
          </p:cNvPr>
          <p:cNvSpPr txBox="1">
            <a:spLocks/>
          </p:cNvSpPr>
          <p:nvPr/>
        </p:nvSpPr>
        <p:spPr>
          <a:xfrm>
            <a:off x="520505" y="2846467"/>
            <a:ext cx="11183815" cy="3355550"/>
          </a:xfrm>
          <a:prstGeom prst="rect">
            <a:avLst/>
          </a:prstGeom>
        </p:spPr>
        <p:txBody>
          <a:bodyPr lIns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Activation Rate: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57.5% — indicates more than half of customers actively use their cards.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Delinquency Rate: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6.06% — needs improvement to reduce defaults.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Total Revenue: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$57M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Interest Earned: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$8M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Transaction Amount: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$46M</a:t>
            </a:r>
            <a:endParaRPr lang="en-US" sz="2800" dirty="0">
              <a:solidFill>
                <a:schemeClr val="tx1"/>
              </a:solidFill>
              <a:latin typeface="Arial" panose="020B0604020202020204" pitchFamily="34" charset="0"/>
              <a:ea typeface="Segoe UI Black" panose="020B0A0204020402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3475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08593-AEE1-497D-BC01-4E32D9967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677169" cy="706964"/>
          </a:xfrm>
        </p:spPr>
        <p:txBody>
          <a:bodyPr/>
          <a:lstStyle/>
          <a:p>
            <a:r>
              <a:rPr lang="en-US" sz="4000" b="1" dirty="0"/>
              <a:t>Recommendations</a:t>
            </a:r>
            <a:endParaRPr lang="en-IN" sz="2400" b="1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11575A7-7B09-4E87-BF27-EDB5065E17FD}"/>
              </a:ext>
            </a:extLst>
          </p:cNvPr>
          <p:cNvSpPr txBox="1">
            <a:spLocks/>
          </p:cNvSpPr>
          <p:nvPr/>
        </p:nvSpPr>
        <p:spPr>
          <a:xfrm>
            <a:off x="438054" y="2277546"/>
            <a:ext cx="5217684" cy="4174054"/>
          </a:xfrm>
          <a:prstGeom prst="rect">
            <a:avLst/>
          </a:prstGeom>
        </p:spPr>
        <p:txBody>
          <a:bodyPr lIns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1. Increase Card Activation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Run onboarding or reward campaigns (e.g., cashback or bonus points for first use).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Send activation reminders via SMS/email to inactive users.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2. Reduce Delinquency Rate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Implement automated payment reminders and credit alerts.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Offer flexible payment options or low-interest EMIs to reduce defaults.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3. Diversify Card Portfolio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Introduce new premium or cashback cards to balance reliance on Blue and Silver cards.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Add exclusive benefits for Gold and Platinum cardholders.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0D3C6E2-EBCA-4324-A1CC-EF39DC893D1E}"/>
              </a:ext>
            </a:extLst>
          </p:cNvPr>
          <p:cNvSpPr txBox="1">
            <a:spLocks/>
          </p:cNvSpPr>
          <p:nvPr/>
        </p:nvSpPr>
        <p:spPr>
          <a:xfrm>
            <a:off x="6536263" y="2277546"/>
            <a:ext cx="5217684" cy="4174054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4. Expand Regional Presence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Strengthen marketing in lower-performing regions (like Florida and New Jersey).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spc="-3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Use local partnerships and campaigns to increase engagement.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5. Enhance Customer Retention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Launch loyalty programs and tiered rewards to encourage repeat usage.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Offer personalized offers based on spending patterns and demographics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6. Focus on Data-Driven Decisions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spc="-3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Continue monitoring real-time KPIs through Power BI dashboards.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Use insights to adjust marketing, credit risk, and product strategies dynamically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0000E06-7FBE-4DAB-8521-549009651AB7}"/>
              </a:ext>
            </a:extLst>
          </p:cNvPr>
          <p:cNvCxnSpPr>
            <a:cxnSpLocks/>
          </p:cNvCxnSpPr>
          <p:nvPr/>
        </p:nvCxnSpPr>
        <p:spPr>
          <a:xfrm>
            <a:off x="6096001" y="2407546"/>
            <a:ext cx="0" cy="3982544"/>
          </a:xfrm>
          <a:prstGeom prst="line">
            <a:avLst/>
          </a:prstGeom>
          <a:ln w="15875">
            <a:prstDash val="sysDot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077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08593-AEE1-497D-BC01-4E32D9967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677169" cy="706964"/>
          </a:xfrm>
        </p:spPr>
        <p:txBody>
          <a:bodyPr/>
          <a:lstStyle/>
          <a:p>
            <a:r>
              <a:rPr lang="en-US" sz="4000" b="1" dirty="0"/>
              <a:t>Business Conclusion</a:t>
            </a:r>
            <a:endParaRPr lang="en-IN" sz="2400" b="1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11575A7-7B09-4E87-BF27-EDB5065E17FD}"/>
              </a:ext>
            </a:extLst>
          </p:cNvPr>
          <p:cNvSpPr txBox="1">
            <a:spLocks/>
          </p:cNvSpPr>
          <p:nvPr/>
        </p:nvSpPr>
        <p:spPr>
          <a:xfrm>
            <a:off x="438054" y="2665473"/>
            <a:ext cx="11245946" cy="3776890"/>
          </a:xfrm>
          <a:prstGeom prst="rect">
            <a:avLst/>
          </a:prstGeom>
        </p:spPr>
        <p:txBody>
          <a:bodyPr lIns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The Credit Card Financial Dashboard provides valuable insights into </a:t>
            </a:r>
            <a:r>
              <a:rPr lang="en-US" sz="2200" dirty="0">
                <a:solidFill>
                  <a:schemeClr val="accent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revenue trends, customer behavior, and operational performance.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It highlights that </a:t>
            </a:r>
            <a:r>
              <a:rPr lang="en-US" sz="2200" dirty="0">
                <a:solidFill>
                  <a:schemeClr val="accent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Blue and Silver cards 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dominate revenue generation, while </a:t>
            </a:r>
            <a:r>
              <a:rPr lang="en-US" sz="2200" dirty="0">
                <a:solidFill>
                  <a:schemeClr val="accent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middle-aged, educated, and married customers 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form the key customer base.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With an </a:t>
            </a:r>
            <a:r>
              <a:rPr lang="en-US" sz="2200" dirty="0">
                <a:solidFill>
                  <a:schemeClr val="accent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activation rate of 57.5% 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and </a:t>
            </a:r>
            <a:r>
              <a:rPr lang="en-US" sz="2200" dirty="0">
                <a:solidFill>
                  <a:schemeClr val="accent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delinquency rate of 6.06%, 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the business shows healthy growth but still has room for improvement in </a:t>
            </a:r>
            <a:r>
              <a:rPr lang="en-US" sz="2200" dirty="0">
                <a:solidFill>
                  <a:schemeClr val="accent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customer engagement and risk management.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Overall, the dashboard enables data-driven decision-making, helping the company </a:t>
            </a:r>
            <a:r>
              <a:rPr lang="en-US" sz="2200" dirty="0">
                <a:solidFill>
                  <a:schemeClr val="accent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enhance profitability, reduce risk, and identify new growth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397341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08593-AEE1-497D-BC01-4E32D9967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About the Analyst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11575A7-7B09-4E87-BF27-EDB5065E17FD}"/>
              </a:ext>
            </a:extLst>
          </p:cNvPr>
          <p:cNvSpPr txBox="1">
            <a:spLocks/>
          </p:cNvSpPr>
          <p:nvPr/>
        </p:nvSpPr>
        <p:spPr>
          <a:xfrm>
            <a:off x="438054" y="2665473"/>
            <a:ext cx="11245946" cy="3776890"/>
          </a:xfrm>
          <a:prstGeom prst="rect">
            <a:avLst/>
          </a:prstGeom>
        </p:spPr>
        <p:txBody>
          <a:bodyPr lIns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endParaRPr lang="en-US" sz="2200" dirty="0">
              <a:solidFill>
                <a:schemeClr val="tx1"/>
              </a:solidFill>
              <a:latin typeface="Arial" panose="020B0604020202020204" pitchFamily="34" charset="0"/>
              <a:ea typeface="Segoe UI Black" panose="020B0A02040204020203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9B7C4EA-49B1-47A6-9B21-026CFD3537F5}"/>
              </a:ext>
            </a:extLst>
          </p:cNvPr>
          <p:cNvSpPr txBox="1">
            <a:spLocks/>
          </p:cNvSpPr>
          <p:nvPr/>
        </p:nvSpPr>
        <p:spPr>
          <a:xfrm>
            <a:off x="590454" y="2817873"/>
            <a:ext cx="11245946" cy="3208854"/>
          </a:xfrm>
          <a:prstGeom prst="rect">
            <a:avLst/>
          </a:prstGeom>
        </p:spPr>
        <p:txBody>
          <a:bodyPr lIns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>
                <a:solidFill>
                  <a:schemeClr val="accent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Prepared by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: Neha Pal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>
                <a:solidFill>
                  <a:schemeClr val="accent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Data Analyst 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| Power BI, SQL, Excel, Python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>
                <a:solidFill>
                  <a:schemeClr val="accent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LinkedIn: 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www.linkedin.com/in/nehapal3355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>
                <a:solidFill>
                  <a:schemeClr val="accent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Email: 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  <a:hlinkClick r:id="rId2"/>
              </a:rPr>
              <a:t>neha.pal.3355@gmail.com</a:t>
            </a:r>
            <a:endParaRPr lang="en-US" sz="2800" dirty="0">
              <a:solidFill>
                <a:schemeClr val="tx1"/>
              </a:solidFill>
              <a:latin typeface="Arial" panose="020B0604020202020204" pitchFamily="34" charset="0"/>
              <a:ea typeface="Segoe UI Black" panose="020B0A02040204020203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dirty="0" err="1">
                <a:solidFill>
                  <a:schemeClr val="accent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Github</a:t>
            </a:r>
            <a:r>
              <a:rPr lang="en-US" sz="2800" dirty="0">
                <a:solidFill>
                  <a:schemeClr val="accent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: 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https://github.com/DoogoPal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800" dirty="0">
              <a:solidFill>
                <a:schemeClr val="tx1"/>
              </a:solidFill>
              <a:latin typeface="Arial" panose="020B0604020202020204" pitchFamily="34" charset="0"/>
              <a:ea typeface="Segoe UI Black" panose="020B0A0204020402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4754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476</TotalTime>
  <Words>1408</Words>
  <Application>Microsoft Office PowerPoint</Application>
  <PresentationFormat>Widescreen</PresentationFormat>
  <Paragraphs>145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Ion Boardroom</vt:lpstr>
      <vt:lpstr>CREDIT CARD WEEKLY STATUS REPORT</vt:lpstr>
      <vt:lpstr>Project Objective</vt:lpstr>
      <vt:lpstr>Data collection &amp; Understanding</vt:lpstr>
      <vt:lpstr>Add new columns using DAX Queries </vt:lpstr>
      <vt:lpstr>Project Insights- Week 53 (31st Dec)</vt:lpstr>
      <vt:lpstr>Product Analysis</vt:lpstr>
      <vt:lpstr>Regional Insights</vt:lpstr>
      <vt:lpstr>Demographic Insights (Part 1 – Age &amp; Education)</vt:lpstr>
      <vt:lpstr>Demographic Insights (Part 2 – Occupation &amp; Marital Status)</vt:lpstr>
      <vt:lpstr>Operational Metrics</vt:lpstr>
      <vt:lpstr>Recommendations</vt:lpstr>
      <vt:lpstr>Business Conclusion</vt:lpstr>
      <vt:lpstr>About the Analyst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WEEKLY STATUS REPORT</dc:title>
  <dc:creator>Neha Pal</dc:creator>
  <cp:lastModifiedBy>Neha Pal</cp:lastModifiedBy>
  <cp:revision>7</cp:revision>
  <dcterms:created xsi:type="dcterms:W3CDTF">2025-10-29T14:27:50Z</dcterms:created>
  <dcterms:modified xsi:type="dcterms:W3CDTF">2025-11-04T15:39:57Z</dcterms:modified>
</cp:coreProperties>
</file>